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66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129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28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582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364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87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127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78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57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093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5725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72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2974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66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57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90B74-48B4-40E6-A442-2199B44B3C9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094ACBA-BCB1-4B9A-8776-4F1DD2FE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81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73A4-8EC9-1AEF-DEA8-E3F82DE1DF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Title: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Bird Observation Analysis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93943-13B5-2C15-E169-8352FEF6DA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Subtitle: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Exploring patterns in bird species diversity, environmental influences, and conservation priorities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Prepared by: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Yelavarthi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Suchitra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Graphic 8" descr="Hummingbird">
            <a:extLst>
              <a:ext uri="{FF2B5EF4-FFF2-40B4-BE49-F238E27FC236}">
                <a16:creationId xmlns:a16="http://schemas.microsoft.com/office/drawing/2014/main" id="{A6F59FF2-7998-6314-0C49-7373EDF230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7067" y="1124185"/>
            <a:ext cx="914400" cy="914400"/>
          </a:xfrm>
          <a:prstGeom prst="rect">
            <a:avLst/>
          </a:prstGeom>
        </p:spPr>
      </p:pic>
      <p:pic>
        <p:nvPicPr>
          <p:cNvPr id="11" name="Graphic 10" descr="Grain">
            <a:extLst>
              <a:ext uri="{FF2B5EF4-FFF2-40B4-BE49-F238E27FC236}">
                <a16:creationId xmlns:a16="http://schemas.microsoft.com/office/drawing/2014/main" id="{92097DAB-F4FA-9DAA-C825-C6F797FF5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5942" y="246482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958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BD13-C87E-4991-B970-2031AFCA5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Slide 2 – Project Overview</a:t>
            </a:r>
            <a:b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394B8-E3B3-7319-3FD2-512FF7385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Objective: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Assess species diversity across different habitats.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Understand seasonal and environmental influences on bird observations.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Identify habitats &amp; species requiring conservation attention.</a:t>
            </a: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Dataset: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Rows: 17,077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Columns: 33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Fields: Species name, date, location, environmental factors, disturbance, watchlist status, etc.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Graphic 3" descr="Hummingbird">
            <a:extLst>
              <a:ext uri="{FF2B5EF4-FFF2-40B4-BE49-F238E27FC236}">
                <a16:creationId xmlns:a16="http://schemas.microsoft.com/office/drawing/2014/main" id="{CFE986C3-7504-04F6-7106-421088CFC7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9665" y="250881"/>
            <a:ext cx="914400" cy="914400"/>
          </a:xfrm>
          <a:prstGeom prst="rect">
            <a:avLst/>
          </a:prstGeom>
        </p:spPr>
      </p:pic>
      <p:pic>
        <p:nvPicPr>
          <p:cNvPr id="5" name="Graphic 4" descr="Grain">
            <a:extLst>
              <a:ext uri="{FF2B5EF4-FFF2-40B4-BE49-F238E27FC236}">
                <a16:creationId xmlns:a16="http://schemas.microsoft.com/office/drawing/2014/main" id="{82BFAD0C-C604-C85C-56B9-8BD416212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9794" y="1016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675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8BA63-EAF3-22A5-1E12-5CF2A5589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Slide 3 – Data Preparation</a:t>
            </a:r>
            <a:b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49DD2-E08B-4790-68EB-B2ABCBCA5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Power Query Cleaning Steps: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Removed unnecessary columns and null rows.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Standardized data types (dates, numbers, text).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Created calculated fields:</a:t>
            </a:r>
          </a:p>
          <a:p>
            <a:pPr lvl="1"/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Month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Month Name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from Date.</a:t>
            </a:r>
          </a:p>
          <a:p>
            <a:pPr lvl="1"/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Temperature Groups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Humidity Groups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(binned ranges).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Converted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boolean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fields to TRUE/FALSE or numeric.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Key Considerations: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Sorting months using Month Number to ensure calendar order.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Logical fields (e.g.,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PIF_Watchlist_Status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retained for filtering and DAX measures.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Graphic 3" descr="Hummingbird">
            <a:extLst>
              <a:ext uri="{FF2B5EF4-FFF2-40B4-BE49-F238E27FC236}">
                <a16:creationId xmlns:a16="http://schemas.microsoft.com/office/drawing/2014/main" id="{6025CABB-45CA-E0F1-BBB9-B13F826D7B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9117" y="281704"/>
            <a:ext cx="914400" cy="914400"/>
          </a:xfrm>
          <a:prstGeom prst="rect">
            <a:avLst/>
          </a:prstGeom>
        </p:spPr>
      </p:pic>
      <p:pic>
        <p:nvPicPr>
          <p:cNvPr id="5" name="Graphic 4" descr="Grain">
            <a:extLst>
              <a:ext uri="{FF2B5EF4-FFF2-40B4-BE49-F238E27FC236}">
                <a16:creationId xmlns:a16="http://schemas.microsoft.com/office/drawing/2014/main" id="{81538334-F70A-B831-2981-25ACA3B8D7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0342" y="1016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82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DF3E-10A7-921B-B28F-98ECA3F72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82885"/>
            <a:ext cx="9206405" cy="134853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Slide 4 – Key Metrics (KPI Cards)</a:t>
            </a:r>
            <a:b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C9D697-8B3E-A5F7-82E3-0DC648D415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862" y="2777069"/>
            <a:ext cx="5351877" cy="163879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E4BEAE-4CF5-8699-830E-50BFD872C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Total Bird Observations: 17.08K.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Watchlist Species make up only 2.21% of all observations.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Majority of sightings are Non-Watchlist species, indicating stable populations.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Implication: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dataset is rich in both quantity and variety.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presence of watchlist species highlights areas requiring attention.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Graphic 2" descr="Hummingbird">
            <a:extLst>
              <a:ext uri="{FF2B5EF4-FFF2-40B4-BE49-F238E27FC236}">
                <a16:creationId xmlns:a16="http://schemas.microsoft.com/office/drawing/2014/main" id="{C8BC6F49-E64C-3AEA-6EDE-0B4F05B7A9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2811" y="242751"/>
            <a:ext cx="914400" cy="914400"/>
          </a:xfrm>
          <a:prstGeom prst="rect">
            <a:avLst/>
          </a:prstGeom>
        </p:spPr>
      </p:pic>
      <p:pic>
        <p:nvPicPr>
          <p:cNvPr id="4" name="Graphic 3" descr="Grain">
            <a:extLst>
              <a:ext uri="{FF2B5EF4-FFF2-40B4-BE49-F238E27FC236}">
                <a16:creationId xmlns:a16="http://schemas.microsoft.com/office/drawing/2014/main" id="{274D048F-6DC5-4116-DF42-B7D8E9653D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4193" y="10675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622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FDA6A-A3E6-6E42-EFEC-57BA26555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5" y="436761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Slide 5 – Species &amp; Location Insights</a:t>
            </a:r>
            <a:b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877F0-142D-C4D0-5810-7EBCC13F2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8456" y="1097161"/>
            <a:ext cx="4185623" cy="3080844"/>
          </a:xfrm>
        </p:spPr>
        <p:txBody>
          <a:bodyPr/>
          <a:lstStyle/>
          <a:p>
            <a:r>
              <a:rPr lang="en-US" sz="18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Top 10 Most Observed Bird Species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Wood Thrush is the most observed species (Forest: 290, Grassland: 19).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Yellow-billed Cuckoo and Yellow-throated Vireo follow next.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Species diversity is evident across both habitat types.</a:t>
            </a:r>
          </a:p>
          <a:p>
            <a:pPr algn="just"/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3DA1307-31AA-137E-8C22-B42B54011C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08" y="4209595"/>
            <a:ext cx="3847891" cy="228367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7E539D-040C-742A-CE23-F66E91D65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6790" y="1397054"/>
            <a:ext cx="4108581" cy="3421526"/>
          </a:xfrm>
        </p:spPr>
        <p:txBody>
          <a:bodyPr/>
          <a:lstStyle/>
          <a:p>
            <a:r>
              <a:rPr lang="en-US" sz="1800" b="1" i="1" dirty="0">
                <a:latin typeface="Cambria" panose="02040503050406030204" pitchFamily="18" charset="0"/>
                <a:ea typeface="Cambria" panose="02040503050406030204" pitchFamily="18" charset="0"/>
              </a:rPr>
              <a:t>Observations by Location Type (Forest vs Grassland)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chart. 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Northern Cardinal and Carolina Wren dominate observations.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Some species like Red-eyed Vireo prefer forests, while others like Field Sparrow are more common in grasslands.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Balanced diversity in both habitat types.</a:t>
            </a:r>
          </a:p>
          <a:p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34549D5-AF8D-8C10-4E60-47BBB75AD15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979" y="4226519"/>
            <a:ext cx="4476828" cy="2266748"/>
          </a:xfrm>
        </p:spPr>
      </p:pic>
      <p:pic>
        <p:nvPicPr>
          <p:cNvPr id="4" name="Graphic 3" descr="Hummingbird">
            <a:extLst>
              <a:ext uri="{FF2B5EF4-FFF2-40B4-BE49-F238E27FC236}">
                <a16:creationId xmlns:a16="http://schemas.microsoft.com/office/drawing/2014/main" id="{480778F1-6718-F7E6-57BE-5F82039C5A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256" y="0"/>
            <a:ext cx="914400" cy="914400"/>
          </a:xfrm>
          <a:prstGeom prst="rect">
            <a:avLst/>
          </a:prstGeom>
        </p:spPr>
      </p:pic>
      <p:pic>
        <p:nvPicPr>
          <p:cNvPr id="6" name="Graphic 5" descr="Grain">
            <a:extLst>
              <a:ext uri="{FF2B5EF4-FFF2-40B4-BE49-F238E27FC236}">
                <a16:creationId xmlns:a16="http://schemas.microsoft.com/office/drawing/2014/main" id="{60F9AA6A-5F8B-33D4-518C-231CE6849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2502" y="4572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98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99499-0FB8-5AA3-90D7-422623A1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Slide 6 – Environmental Factors</a:t>
            </a:r>
            <a:b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A9D6C-674B-CDA0-27AA-0DD68FBAE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6" y="2160982"/>
            <a:ext cx="4184650" cy="2000051"/>
          </a:xfrm>
        </p:spPr>
        <p:txBody>
          <a:bodyPr/>
          <a:lstStyle/>
          <a:p>
            <a:r>
              <a:rPr lang="en-US" sz="1600" b="1" i="1" dirty="0">
                <a:latin typeface="Cambria" panose="02040503050406030204" pitchFamily="18" charset="0"/>
                <a:ea typeface="Cambria" panose="02040503050406030204" pitchFamily="18" charset="0"/>
              </a:rPr>
              <a:t>Number of Bird Observations by Temperature Range &amp; Location: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Highest activity observed between 15°C–25°C.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Grassland species peak at slightly higher temperatures than forest species.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Extreme temperatures reduce sightings significantly.</a:t>
            </a:r>
          </a:p>
          <a:p>
            <a:endParaRPr lang="en-IN" sz="16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57E4E9-CC4D-E753-2643-BAB9C2DC2C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31" y="4595069"/>
            <a:ext cx="4184650" cy="209563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4656E-BE01-2056-7148-9E5AD1D23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70511" y="693536"/>
            <a:ext cx="4185618" cy="4087417"/>
          </a:xfrm>
        </p:spPr>
        <p:txBody>
          <a:bodyPr/>
          <a:lstStyle/>
          <a:p>
            <a:r>
              <a:rPr lang="en-US" sz="1600" b="1" i="1" dirty="0">
                <a:latin typeface="Cambria" panose="02040503050406030204" pitchFamily="18" charset="0"/>
                <a:ea typeface="Cambria" panose="02040503050406030204" pitchFamily="18" charset="0"/>
              </a:rPr>
              <a:t>Observations by Humidity Range &amp; Location: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Most observations occur in 70–90% humidity range.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Forests sustain higher counts in extreme humidity compared to grasslands.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Low humidity (&lt;40%) shows very limited sightings.</a:t>
            </a:r>
          </a:p>
          <a:p>
            <a:endParaRPr lang="en-IN" sz="16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16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56322F0-0682-36FF-8A59-D99175344D6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765" y="4551214"/>
            <a:ext cx="4186237" cy="2139485"/>
          </a:xfrm>
        </p:spPr>
      </p:pic>
      <p:pic>
        <p:nvPicPr>
          <p:cNvPr id="11" name="Graphic 10" descr="Hummingbird">
            <a:extLst>
              <a:ext uri="{FF2B5EF4-FFF2-40B4-BE49-F238E27FC236}">
                <a16:creationId xmlns:a16="http://schemas.microsoft.com/office/drawing/2014/main" id="{16CC2E04-8FEA-0FA8-9C96-0D1C2DD7F5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746" y="37109"/>
            <a:ext cx="914400" cy="914400"/>
          </a:xfrm>
          <a:prstGeom prst="rect">
            <a:avLst/>
          </a:prstGeom>
        </p:spPr>
      </p:pic>
      <p:pic>
        <p:nvPicPr>
          <p:cNvPr id="12" name="Graphic 11" descr="Grain">
            <a:extLst>
              <a:ext uri="{FF2B5EF4-FFF2-40B4-BE49-F238E27FC236}">
                <a16:creationId xmlns:a16="http://schemas.microsoft.com/office/drawing/2014/main" id="{28CC64F4-2A6D-0E9A-FE08-9B322D017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8984" y="6935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35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105D6-3C5A-9711-8C79-F3DB67956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049" y="393843"/>
            <a:ext cx="8596668" cy="1320800"/>
          </a:xfrm>
        </p:spPr>
        <p:txBody>
          <a:bodyPr/>
          <a:lstStyle/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Slide 7 – Conservation Focus</a:t>
            </a:r>
            <a:b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69BCD-EE30-15DA-B4CA-7219ABEDD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252" y="3260317"/>
            <a:ext cx="4185623" cy="576262"/>
          </a:xfrm>
        </p:spPr>
        <p:txBody>
          <a:bodyPr/>
          <a:lstStyle/>
          <a:p>
            <a:r>
              <a:rPr lang="en-IN" sz="1600" b="1" i="1" dirty="0">
                <a:latin typeface="Cambria" panose="02040503050406030204" pitchFamily="18" charset="0"/>
                <a:ea typeface="Cambria" panose="02040503050406030204" pitchFamily="18" charset="0"/>
              </a:rPr>
              <a:t>Total Observations &amp; % Watchlist Species: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Total Bird Observations: 17.08K.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Watchlist Species make up only 2.21% of all observations.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Majority of sightings are Non-Watchlist species, indicating stable populations.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0D9EF-9041-7BA7-9E7D-41A10989F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15842" y="4101172"/>
            <a:ext cx="4185618" cy="576262"/>
          </a:xfrm>
        </p:spPr>
        <p:txBody>
          <a:bodyPr/>
          <a:lstStyle/>
          <a:p>
            <a:r>
              <a:rPr lang="en-US" sz="1600" b="1" i="1" dirty="0">
                <a:latin typeface="Cambria" panose="02040503050406030204" pitchFamily="18" charset="0"/>
                <a:ea typeface="Cambria" panose="02040503050406030204" pitchFamily="18" charset="0"/>
              </a:rPr>
              <a:t>Impact of Disturbance on Initial Bird Count :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Slight disturbance results in the highest average counts (0.55).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Serious disturbance reduces counts significantly (0.47).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Moderate and no disturbance conditions are relatively similar.</a:t>
            </a:r>
          </a:p>
          <a:p>
            <a:endParaRPr lang="en-US" sz="16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16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EE436F08-074D-9588-5300-2984309EBA3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479" y="3898336"/>
            <a:ext cx="4186238" cy="2098067"/>
          </a:xfrm>
        </p:spPr>
      </p:pic>
      <p:pic>
        <p:nvPicPr>
          <p:cNvPr id="18" name="Graphic 17" descr="Hummingbird">
            <a:extLst>
              <a:ext uri="{FF2B5EF4-FFF2-40B4-BE49-F238E27FC236}">
                <a16:creationId xmlns:a16="http://schemas.microsoft.com/office/drawing/2014/main" id="{CDA479DB-EC28-C82A-1D4A-50F3074182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52" y="0"/>
            <a:ext cx="914400" cy="914400"/>
          </a:xfrm>
          <a:prstGeom prst="rect">
            <a:avLst/>
          </a:prstGeom>
        </p:spPr>
      </p:pic>
      <p:pic>
        <p:nvPicPr>
          <p:cNvPr id="19" name="Graphic 18" descr="Grain">
            <a:extLst>
              <a:ext uri="{FF2B5EF4-FFF2-40B4-BE49-F238E27FC236}">
                <a16:creationId xmlns:a16="http://schemas.microsoft.com/office/drawing/2014/main" id="{2799F947-7D28-A3A3-FA1C-3C8C2CFDBE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2130" y="457200"/>
            <a:ext cx="914400" cy="91440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DA8FA58-FD41-0B63-0786-EB133296FA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790225" y="3898336"/>
            <a:ext cx="4184650" cy="216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96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D52E-9C3D-5AA0-FC2C-BAF740FDE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35613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Slide 8 – Seasonal &amp; Spatial Trends</a:t>
            </a:r>
            <a:b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DDC93-83B3-3E08-DA70-C03424FA5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760" y="3025376"/>
            <a:ext cx="4185623" cy="576262"/>
          </a:xfrm>
        </p:spPr>
        <p:txBody>
          <a:bodyPr/>
          <a:lstStyle/>
          <a:p>
            <a:r>
              <a:rPr lang="en-US" sz="1600" b="1" i="1" dirty="0">
                <a:latin typeface="Cambria" panose="02040503050406030204" pitchFamily="18" charset="0"/>
                <a:ea typeface="Cambria" panose="02040503050406030204" pitchFamily="18" charset="0"/>
              </a:rPr>
              <a:t>Total Bird Observations per Month: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May: 5.6K observations.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June recorded the highest count at 6.6K.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July saw a decline to 4.9K observations, possibly due to seasonal migration patterns.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DBD4FD9-DF54-650B-CFC5-BEB76E6DF6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3937478"/>
            <a:ext cx="4184650" cy="210388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643A4F-9E7A-D933-DB24-242C9E175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8383" y="3025376"/>
            <a:ext cx="4185618" cy="576262"/>
          </a:xfrm>
        </p:spPr>
        <p:txBody>
          <a:bodyPr/>
          <a:lstStyle/>
          <a:p>
            <a:r>
              <a:rPr lang="en-US" sz="1600" b="1" i="1" dirty="0">
                <a:latin typeface="Cambria" panose="02040503050406030204" pitchFamily="18" charset="0"/>
                <a:ea typeface="Cambria" panose="02040503050406030204" pitchFamily="18" charset="0"/>
              </a:rPr>
              <a:t>Top 10 Plots by Observation Count: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ANTL-0148 leads with over 32 sightings.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CHOH-0106 and GWMP-0054 follow closely.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These high-density plots may represent key bird habitats.</a:t>
            </a:r>
          </a:p>
          <a:p>
            <a:endParaRPr lang="en-IN" sz="16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Graphic 10" descr="Hummingbird">
            <a:extLst>
              <a:ext uri="{FF2B5EF4-FFF2-40B4-BE49-F238E27FC236}">
                <a16:creationId xmlns:a16="http://schemas.microsoft.com/office/drawing/2014/main" id="{BCC2268B-570C-3327-AEC5-E2E511B175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667" y="78413"/>
            <a:ext cx="914400" cy="914400"/>
          </a:xfrm>
          <a:prstGeom prst="rect">
            <a:avLst/>
          </a:prstGeom>
        </p:spPr>
      </p:pic>
      <p:pic>
        <p:nvPicPr>
          <p:cNvPr id="12" name="Graphic 11" descr="Grain">
            <a:extLst>
              <a:ext uri="{FF2B5EF4-FFF2-40B4-BE49-F238E27FC236}">
                <a16:creationId xmlns:a16="http://schemas.microsoft.com/office/drawing/2014/main" id="{03C2A3FA-BC5B-973D-9406-A0EFFBE8E6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6113" y="738813"/>
            <a:ext cx="914400" cy="9144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57B62-7C51-22FE-E9C7-ECDD76EE6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8384" y="3707097"/>
            <a:ext cx="4185617" cy="233426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ACFD30-C8A9-CB95-2097-ABF32F1D9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382" y="3784922"/>
            <a:ext cx="4184651" cy="233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89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5308-EFBA-39DD-5A94-7224D9A36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6482"/>
            <a:ext cx="3854528" cy="1280588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Slide 9 – Filters &amp; Interactivity</a:t>
            </a:r>
            <a:b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FA5335-1422-6D89-21A2-C6BB52671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989" y="434083"/>
            <a:ext cx="1969656" cy="5722705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0C6B1B-2D85-52D3-6BCA-0E6F8522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Visuals: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Screenshot showing slicers (Location Type, Month, Common Name, Disturbance).</a:t>
            </a: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Insights: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Slicers allow targeted analysis by season, habitat, or species.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Facilitates quick focus on priority species or habitats.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Graphic 7" descr="Hummingbird">
            <a:extLst>
              <a:ext uri="{FF2B5EF4-FFF2-40B4-BE49-F238E27FC236}">
                <a16:creationId xmlns:a16="http://schemas.microsoft.com/office/drawing/2014/main" id="{3678E7F4-3A07-C84A-7F4F-C0EA01FC51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134" y="333075"/>
            <a:ext cx="914400" cy="914400"/>
          </a:xfrm>
          <a:prstGeom prst="rect">
            <a:avLst/>
          </a:prstGeom>
        </p:spPr>
      </p:pic>
      <p:pic>
        <p:nvPicPr>
          <p:cNvPr id="9" name="Graphic 8" descr="Grain">
            <a:extLst>
              <a:ext uri="{FF2B5EF4-FFF2-40B4-BE49-F238E27FC236}">
                <a16:creationId xmlns:a16="http://schemas.microsoft.com/office/drawing/2014/main" id="{22233FAC-A85B-8AAB-6188-41FCB39DA5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7117" y="15915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976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BF14-B59E-DA1D-7B5D-0F2EA3F78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Slide 10 – Summary &amp; Recommendations</a:t>
            </a:r>
            <a:b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7FAB2-4162-BD46-1080-5536C9A7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1" dirty="0">
                <a:latin typeface="Cambria" panose="02040503050406030204" pitchFamily="18" charset="0"/>
                <a:ea typeface="Cambria" panose="02040503050406030204" pitchFamily="18" charset="0"/>
              </a:rPr>
              <a:t>Overall Key Takeaways: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Bird populations vary significantly with habitat type, temperature, and humidity.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Certain plots and species dominate sightings, highlighting biodiversity hotspots.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Disturbance levels directly influence bird presence.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Conservation efforts should prioritize watchlist species and high-density observation plots.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Recommendations: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Prioritize conservation in habitats with high watchlist species.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Manage disturbance factors, especially in sensitive zones.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Align monitoring with seasonal peaks to maximize data yield.</a:t>
            </a:r>
          </a:p>
          <a:p>
            <a:endParaRPr lang="en-IN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Graphic 3" descr="Hummingbird">
            <a:extLst>
              <a:ext uri="{FF2B5EF4-FFF2-40B4-BE49-F238E27FC236}">
                <a16:creationId xmlns:a16="http://schemas.microsoft.com/office/drawing/2014/main" id="{8931EEA2-C8C6-149A-E851-20682306C7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910" y="152400"/>
            <a:ext cx="914400" cy="914400"/>
          </a:xfrm>
          <a:prstGeom prst="rect">
            <a:avLst/>
          </a:prstGeom>
        </p:spPr>
      </p:pic>
      <p:pic>
        <p:nvPicPr>
          <p:cNvPr id="5" name="Graphic 4" descr="Grain">
            <a:extLst>
              <a:ext uri="{FF2B5EF4-FFF2-40B4-BE49-F238E27FC236}">
                <a16:creationId xmlns:a16="http://schemas.microsoft.com/office/drawing/2014/main" id="{E7CE85C3-D4E0-2171-4E71-717AD0269A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0026" y="8166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70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BDF2-1150-5D94-8397-C2090E30F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Overview of the Dashboard</a:t>
            </a:r>
          </a:p>
        </p:txBody>
      </p:sp>
      <p:pic>
        <p:nvPicPr>
          <p:cNvPr id="6" name="Graphic 5" descr="Hummingbird">
            <a:extLst>
              <a:ext uri="{FF2B5EF4-FFF2-40B4-BE49-F238E27FC236}">
                <a16:creationId xmlns:a16="http://schemas.microsoft.com/office/drawing/2014/main" id="{5DA57827-9B28-4A38-4BAA-81A0E6BB9C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91310" y="152400"/>
            <a:ext cx="914400" cy="914400"/>
          </a:xfrm>
          <a:prstGeom prst="rect">
            <a:avLst/>
          </a:prstGeom>
        </p:spPr>
      </p:pic>
      <p:pic>
        <p:nvPicPr>
          <p:cNvPr id="7" name="Graphic 6" descr="Grain">
            <a:extLst>
              <a:ext uri="{FF2B5EF4-FFF2-40B4-BE49-F238E27FC236}">
                <a16:creationId xmlns:a16="http://schemas.microsoft.com/office/drawing/2014/main" id="{24F9D6FF-3548-641E-2FC9-A2F95E42F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8780" y="471643"/>
            <a:ext cx="914400" cy="9144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18CDC-6494-CA1C-8787-3B1EA1909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757543-F612-76B8-F5CC-C8553D7B8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2068357"/>
            <a:ext cx="8596668" cy="397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86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2BA0-F1CD-10F8-D47D-BBB9603CD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132" y="555186"/>
            <a:ext cx="7766936" cy="1646302"/>
          </a:xfrm>
        </p:spPr>
        <p:txBody>
          <a:bodyPr/>
          <a:lstStyle/>
          <a:p>
            <a:pPr algn="ctr"/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Slide 11 – Closing</a:t>
            </a:r>
            <a:b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F8528-9F1F-DD0E-7509-CA76D289E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132" y="2098743"/>
            <a:ext cx="7766936" cy="2997239"/>
          </a:xfrm>
        </p:spPr>
        <p:txBody>
          <a:bodyPr>
            <a:noAutofit/>
          </a:bodyPr>
          <a:lstStyle/>
          <a:p>
            <a:pPr algn="ctr"/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Title: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Prepared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by:Yelavarthi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Suchitra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Graphic 3" descr="Hummingbird">
            <a:extLst>
              <a:ext uri="{FF2B5EF4-FFF2-40B4-BE49-F238E27FC236}">
                <a16:creationId xmlns:a16="http://schemas.microsoft.com/office/drawing/2014/main" id="{1A54AFD9-7C6D-1709-8B7B-FD521C7E2A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7355" y="463937"/>
            <a:ext cx="914400" cy="914400"/>
          </a:xfrm>
          <a:prstGeom prst="rect">
            <a:avLst/>
          </a:prstGeom>
        </p:spPr>
      </p:pic>
      <p:pic>
        <p:nvPicPr>
          <p:cNvPr id="5" name="Graphic 4" descr="Grain">
            <a:extLst>
              <a:ext uri="{FF2B5EF4-FFF2-40B4-BE49-F238E27FC236}">
                <a16:creationId xmlns:a16="http://schemas.microsoft.com/office/drawing/2014/main" id="{743BA5D1-426D-DE06-48F3-26AA83A10F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7182" y="11387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003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110</TotalTime>
  <Words>712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</vt:lpstr>
      <vt:lpstr>Trebuchet MS</vt:lpstr>
      <vt:lpstr>Wingdings 3</vt:lpstr>
      <vt:lpstr>Facet</vt:lpstr>
      <vt:lpstr>Title: Bird Observation Analysis </vt:lpstr>
      <vt:lpstr>Slide 2 – Project Overview </vt:lpstr>
      <vt:lpstr>Slide 3 – Data Preparation </vt:lpstr>
      <vt:lpstr>Slide 4 – Key Metrics (KPI Cards) </vt:lpstr>
      <vt:lpstr>Slide 5 – Species &amp; Location Insights </vt:lpstr>
      <vt:lpstr>Slide 6 – Environmental Factors </vt:lpstr>
      <vt:lpstr>Slide 7 – Conservation Focus </vt:lpstr>
      <vt:lpstr>Slide 8 – Seasonal &amp; Spatial Trends </vt:lpstr>
      <vt:lpstr>Slide 9 – Filters &amp; Interactivity </vt:lpstr>
      <vt:lpstr>Slide 10 – Summary &amp; Recommendations </vt:lpstr>
      <vt:lpstr>Overview of the Dashboard</vt:lpstr>
      <vt:lpstr>Slide 11 – Closing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Shruthi Sumadhur Ghosh</dc:creator>
  <cp:lastModifiedBy>Suchitra D</cp:lastModifiedBy>
  <cp:revision>20</cp:revision>
  <dcterms:created xsi:type="dcterms:W3CDTF">2025-08-08T08:45:30Z</dcterms:created>
  <dcterms:modified xsi:type="dcterms:W3CDTF">2026-04-29T05:18:33Z</dcterms:modified>
</cp:coreProperties>
</file>